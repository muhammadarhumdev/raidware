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78" r:id="rId7"/>
    <p:sldId id="282" r:id="rId8"/>
    <p:sldId id="284" r:id="rId9"/>
    <p:sldId id="279" r:id="rId10"/>
    <p:sldId id="261" r:id="rId11"/>
    <p:sldId id="262" r:id="rId12"/>
    <p:sldId id="285" r:id="rId13"/>
    <p:sldId id="286" r:id="rId14"/>
    <p:sldId id="288" r:id="rId15"/>
    <p:sldId id="263" r:id="rId16"/>
    <p:sldId id="264" r:id="rId17"/>
    <p:sldId id="287" r:id="rId18"/>
    <p:sldId id="265" r:id="rId19"/>
    <p:sldId id="266" r:id="rId20"/>
    <p:sldId id="309" r:id="rId21"/>
    <p:sldId id="289" r:id="rId22"/>
    <p:sldId id="290" r:id="rId23"/>
    <p:sldId id="291" r:id="rId24"/>
    <p:sldId id="292" r:id="rId25"/>
    <p:sldId id="267" r:id="rId26"/>
    <p:sldId id="268" r:id="rId27"/>
    <p:sldId id="293" r:id="rId28"/>
    <p:sldId id="294" r:id="rId29"/>
    <p:sldId id="274" r:id="rId30"/>
    <p:sldId id="295" r:id="rId31"/>
    <p:sldId id="296" r:id="rId32"/>
    <p:sldId id="297" r:id="rId33"/>
    <p:sldId id="269" r:id="rId34"/>
    <p:sldId id="275" r:id="rId35"/>
    <p:sldId id="298" r:id="rId36"/>
    <p:sldId id="299" r:id="rId37"/>
    <p:sldId id="300" r:id="rId38"/>
    <p:sldId id="301" r:id="rId39"/>
    <p:sldId id="270" r:id="rId40"/>
    <p:sldId id="302" r:id="rId41"/>
    <p:sldId id="276" r:id="rId42"/>
    <p:sldId id="303" r:id="rId43"/>
    <p:sldId id="304" r:id="rId44"/>
    <p:sldId id="271" r:id="rId45"/>
    <p:sldId id="272" r:id="rId46"/>
    <p:sldId id="273" r:id="rId47"/>
    <p:sldId id="306" r:id="rId48"/>
    <p:sldId id="305" r:id="rId49"/>
    <p:sldId id="307" r:id="rId50"/>
    <p:sldId id="308" r:id="rId51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j2AY3DNheaNSztFqwRHhpggp8V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customschemas.google.com/relationships/presentationmetadata" Target="meta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1775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7716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9076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81542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38073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05967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16108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40533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88065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70892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82845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40344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12785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90677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81934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30244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469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espressif.com/projects/esp-idf/en/latest/esp32/api-guides/esp-wifi-mesh.html" TargetMode="External"/><Relationship Id="rId2" Type="http://schemas.openxmlformats.org/officeDocument/2006/relationships/hyperlink" Target="https://www.zscaler.com/resources/industry-reports/2024-enterprise-iot-ot-threat-report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microsoft.com/en-us/azure/security/develop/threat-modeling-tool-threa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Final Year Project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n-US" dirty="0"/>
              <a:t>Raidware</a:t>
            </a:r>
            <a:endParaRPr dirty="0"/>
          </a:p>
          <a:p>
            <a:pPr marL="63500" lvl="0" indent="0" algn="ctr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lang="en-US" sz="1400" dirty="0"/>
              <a:t>Supervised By: MR. Muhammad Osama Raza (senior lecturer )</a:t>
            </a:r>
            <a:endParaRPr dirty="0"/>
          </a:p>
        </p:txBody>
      </p:sp>
      <p:pic>
        <p:nvPicPr>
          <p:cNvPr id="86" name="Google Shape;86;p1" descr="Riphah.jpg"/>
          <p:cNvPicPr preferRelativeResize="0"/>
          <p:nvPr/>
        </p:nvPicPr>
        <p:blipFill rotWithShape="1">
          <a:blip r:embed="rId4">
            <a:alphaModFix/>
          </a:blip>
          <a:srcRect l="3033" t="4065" r="6926" b="4925"/>
          <a:stretch/>
        </p:blipFill>
        <p:spPr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CB90AE-0110-FA0B-B1CA-B5CDD81792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Team</a:t>
            </a:r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Hafiz Muhammad Arhum Javid  (44889)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Akrash Bashir (47571)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F04CCA-103F-FDF6-A67D-2765A7FAD6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of Content</a:t>
            </a:r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457200" y="1166018"/>
            <a:ext cx="8229600" cy="4910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Background and Introduction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Literature Review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Problem Statement</a:t>
            </a:r>
            <a:endParaRPr lang="en-US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Project Scope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Proposed Solution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Requirements Summary</a:t>
            </a:r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Design Summary</a:t>
            </a:r>
            <a:endParaRPr dirty="0"/>
          </a:p>
          <a:p>
            <a:pPr marL="742950" lvl="1" indent="-285750">
              <a:spcBef>
                <a:spcPts val="400"/>
              </a:spcBef>
              <a:buSzPts val="2000"/>
            </a:pPr>
            <a:r>
              <a:rPr lang="en-US" sz="2000" dirty="0"/>
              <a:t>Methodology</a:t>
            </a:r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Implementation Summary</a:t>
            </a:r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Experiments and Results Summary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Testing Summary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Conclusion and Outlook</a:t>
            </a: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226701-2CC5-8ABE-BBA6-3D60410024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BACKGROUND AND INTRODUCTION</a:t>
            </a:r>
            <a:endParaRPr dirty="0"/>
          </a:p>
        </p:txBody>
      </p:sp>
      <p:sp>
        <p:nvSpPr>
          <p:cNvPr id="104" name="Google Shape;104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A8AE9A-6A83-E94F-66C8-D5DF9B5E31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Background and Introduction</a:t>
            </a:r>
            <a:endParaRPr dirty="0"/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52948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b="1" dirty="0"/>
              <a:t>What is Raidware?</a:t>
            </a:r>
            <a:endParaRPr lang="en-US" dirty="0"/>
          </a:p>
          <a:p>
            <a:pPr marL="114300" indent="0" algn="just">
              <a:buNone/>
            </a:pPr>
            <a:r>
              <a:rPr lang="en-US" dirty="0"/>
              <a:t>Raidware is a Security-as-a-Service(SECaaS) platform for IoT devices</a:t>
            </a:r>
          </a:p>
          <a:p>
            <a:pPr marL="114300" indent="0" algn="just">
              <a:buNone/>
            </a:pPr>
            <a:r>
              <a:rPr lang="en-US" dirty="0"/>
              <a:t>It wraps every IoT device in a full security system from the moment it boots Built on low-cost ESP32 hardware no expensive equipment needed</a:t>
            </a:r>
          </a:p>
          <a:p>
            <a:pPr marL="114300" indent="0" algn="just">
              <a:buNone/>
            </a:pPr>
            <a:r>
              <a:rPr lang="en-US" b="1" dirty="0"/>
              <a:t>Covers: </a:t>
            </a:r>
            <a:r>
              <a:rPr lang="en-US" dirty="0"/>
              <a:t>Encrypted communication, device authentication, and AI-based intrusion detection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DD7B6C-C57A-D37E-14AA-8EA9BB2E7D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A1DF6-C285-4701-E3A7-EE7FD7339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4422B-C1BC-12B3-4DDB-E08A4FA2D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/>
              <a:t>Market Opportunity: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IoT security market was $6.7 billion in 2023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Expected to reach $37 billion by 2030 (25% growth every year)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 15 billion IoT devices connected worldwide right now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affordable platform currently covers all security layers in one place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D78BE-59CF-FB3D-87F3-EF7F46C445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044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AE396-A57C-366A-6722-CC74BB5D9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FB21A-D179-9AAC-769B-A9ECB53DC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288026"/>
            <a:ext cx="8401665" cy="4838137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Who Needs Raidware?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Companies</a:t>
            </a:r>
            <a:r>
              <a:rPr lang="en-US" dirty="0"/>
              <a:t> :secure their office and warehouse IoT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Government: </a:t>
            </a:r>
            <a:r>
              <a:rPr lang="en-US" dirty="0"/>
              <a:t>protect smart city and surveillance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Small Businesses (SMEs):</a:t>
            </a:r>
            <a:r>
              <a:rPr lang="en-US" dirty="0"/>
              <a:t>get enterprise-level security at low cost</a:t>
            </a:r>
          </a:p>
          <a:p>
            <a:pPr marL="114300" indent="0">
              <a:buNone/>
            </a:pPr>
            <a:r>
              <a:rPr lang="en-US" b="1" dirty="0"/>
              <a:t>Factories:</a:t>
            </a:r>
            <a:r>
              <a:rPr lang="en-US" dirty="0"/>
              <a:t> Need 24/7 uptime, can't afford network failures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4A81D-A9AC-BE54-9487-97583DC2BB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56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26B73-E7FB-DD8A-B151-4A855748E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2F365-B050-DBDD-63B4-4D612098C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/>
              <a:t>Why Raidware is Different?</a:t>
            </a: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Other platforms (AWS, Azure, Cisco) cover only one or two security layers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Raidware is the </a:t>
            </a:r>
            <a:r>
              <a:rPr lang="en-US" b="1" dirty="0"/>
              <a:t>only</a:t>
            </a:r>
            <a:r>
              <a:rPr lang="en-US" dirty="0"/>
              <a:t> platform combining all four in one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EA974-DA82-0AC3-F7E8-348AA39BF3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868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E08A9-68E7-0F68-318B-5C12AA876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72842-DA93-50E8-3F04-B51ED4E3C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210669"/>
          </a:xfrm>
        </p:spPr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5F573-60C2-0CD3-09A6-6675E07811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61A9C6-0A6C-BBA6-F8EE-828BF9404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659114"/>
              </p:ext>
            </p:extLst>
          </p:nvPr>
        </p:nvGraphicFramePr>
        <p:xfrm>
          <a:off x="457200" y="1647825"/>
          <a:ext cx="8229601" cy="41630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6579">
                  <a:extLst>
                    <a:ext uri="{9D8B030D-6E8A-4147-A177-3AD203B41FA5}">
                      <a16:colId xmlns:a16="http://schemas.microsoft.com/office/drawing/2014/main" val="832538410"/>
                    </a:ext>
                  </a:extLst>
                </a:gridCol>
                <a:gridCol w="1646579">
                  <a:extLst>
                    <a:ext uri="{9D8B030D-6E8A-4147-A177-3AD203B41FA5}">
                      <a16:colId xmlns:a16="http://schemas.microsoft.com/office/drawing/2014/main" val="4177094518"/>
                    </a:ext>
                  </a:extLst>
                </a:gridCol>
                <a:gridCol w="1646579">
                  <a:extLst>
                    <a:ext uri="{9D8B030D-6E8A-4147-A177-3AD203B41FA5}">
                      <a16:colId xmlns:a16="http://schemas.microsoft.com/office/drawing/2014/main" val="1517166439"/>
                    </a:ext>
                  </a:extLst>
                </a:gridCol>
                <a:gridCol w="1644932">
                  <a:extLst>
                    <a:ext uri="{9D8B030D-6E8A-4147-A177-3AD203B41FA5}">
                      <a16:colId xmlns:a16="http://schemas.microsoft.com/office/drawing/2014/main" val="3055072229"/>
                    </a:ext>
                  </a:extLst>
                </a:gridCol>
                <a:gridCol w="1644932">
                  <a:extLst>
                    <a:ext uri="{9D8B030D-6E8A-4147-A177-3AD203B41FA5}">
                      <a16:colId xmlns:a16="http://schemas.microsoft.com/office/drawing/2014/main" val="201522902"/>
                    </a:ext>
                  </a:extLst>
                </a:gridCol>
              </a:tblGrid>
              <a:tr h="40532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Feature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AWS Greengrass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Azure IoT Hub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Cisco IoT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Raidware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6339391"/>
                  </a:ext>
                </a:extLst>
              </a:tr>
              <a:tr h="40532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Mesh Networking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No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Partial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7633163"/>
                  </a:ext>
                </a:extLst>
              </a:tr>
              <a:tr h="40532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AES-256 Encryption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1506404"/>
                  </a:ext>
                </a:extLst>
              </a:tr>
              <a:tr h="8655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Post-Quantum Crypto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1423177"/>
                  </a:ext>
                </a:extLst>
              </a:tr>
              <a:tr h="8655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Mutual Authentication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Partial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1527281"/>
                  </a:ext>
                </a:extLst>
              </a:tr>
              <a:tr h="40532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On-Device IDS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2922161"/>
                  </a:ext>
                </a:extLst>
              </a:tr>
              <a:tr h="40532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Sovereignty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Limited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Limited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Limited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4678996"/>
                  </a:ext>
                </a:extLst>
              </a:tr>
              <a:tr h="40532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Cost Accessibility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Medium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Medium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High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Low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2449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31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DD6812-7715-D025-C4B6-75AF64060A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9E3946-B39A-E7BD-F735-AA58CCC3BD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596B2C-A865-C6AA-6C54-73C7FA3AE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4466" y="1613527"/>
            <a:ext cx="8524568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Studied existing IoT security platforms, research 	papers, and market trends 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Goal: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what already exists and what gaps are 	still there 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Conclusion: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single platform covers the full 	IoT security stack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Literature Review</a:t>
            </a: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9E3946-B39A-E7BD-F735-AA58CCC3BD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596B2C-A865-C6AA-6C54-73C7FA3AE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9768" y="1237619"/>
            <a:ext cx="8229600" cy="5057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 algn="just">
              <a:buNone/>
            </a:pPr>
            <a:r>
              <a:rPr lang="en-US" b="1" dirty="0"/>
              <a:t>IoT Growth &amp; Threat Landscape</a:t>
            </a: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Connected devices crossed 15 billion in 2023, expected 29 billion by 2030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More devices = bigger attack surface for hackers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Mirai Botnet attack compromised hundreds of thousands of IoT devices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Launched one of the biggest DDoS attacks in history using those devices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952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8F3C8-0703-19D0-F722-910027232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9D5DB-F1A9-C13C-0F15-0127ADCDC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29032"/>
            <a:ext cx="8229600" cy="4897131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Technology 1: ESP-WIFI-MESH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Normal Wi-Fi connects all devices to one central point (single point of failure)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ESP-WIFI-MESH lets devices self-organize and self-heal automatically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one node goes down, network reroutes itself no human needed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Challenge: video streaming over mesh loses bandwidth at every hop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A6CA1-D90C-B58B-358B-E4602B94AB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011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8F3C8-0703-19D0-F722-910027232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9D5DB-F1A9-C13C-0F15-0127ADCDC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29032"/>
            <a:ext cx="8229600" cy="4897131"/>
          </a:xfrm>
        </p:spPr>
        <p:txBody>
          <a:bodyPr/>
          <a:lstStyle/>
          <a:p>
            <a:r>
              <a:rPr lang="en-US" b="1" dirty="0"/>
              <a:t>Technology 2: TinyML on Edge Devices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Traditional Intrusion Detection Systems (IDS) run on powerful servers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TinyML runs machine learning directly on small devices like ESP32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Research proved: </a:t>
            </a:r>
            <a:r>
              <a:rPr lang="en-US" dirty="0"/>
              <a:t>quantized neural networks work on as little as 80KB 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Detects network attacks with 90%+ accuracy, uses 78% less energy than cloud-based IDS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A6CA1-D90C-B58B-358B-E4602B94AB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126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28" name="Google Shape;128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40C2CB-9C19-2463-BF95-206A1C1BD3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Statement</a:t>
            </a:r>
            <a:endParaRPr dirty="0"/>
          </a:p>
        </p:txBody>
      </p:sp>
      <p:sp>
        <p:nvSpPr>
          <p:cNvPr id="134" name="Google Shape;134;p9"/>
          <p:cNvSpPr txBox="1">
            <a:spLocks noGrp="1"/>
          </p:cNvSpPr>
          <p:nvPr>
            <p:ph type="body" idx="1"/>
          </p:nvPr>
        </p:nvSpPr>
        <p:spPr>
          <a:xfrm>
            <a:off x="457200" y="1219201"/>
            <a:ext cx="8229600" cy="468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 algn="just">
              <a:buNone/>
            </a:pPr>
            <a:r>
              <a:rPr lang="en-US" b="1" dirty="0"/>
              <a:t>The Core Problem</a:t>
            </a: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Most IoT devices ship with zero proper security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No encryption, no authentication, no intrusion detection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One node fails → entire network goes down (single point of failure)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Attackers harvest encrypted data today to decrypt later with quantum computers</a:t>
            </a:r>
          </a:p>
          <a:p>
            <a:pPr marL="114300" indent="0" algn="just">
              <a:buNone/>
            </a:pPr>
            <a:endParaRPr lang="en-US" dirty="0">
              <a:effectLst/>
            </a:endParaRPr>
          </a:p>
          <a:p>
            <a:pPr marL="2032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2032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604631-F948-7203-D15C-B51BAA3064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Statement</a:t>
            </a:r>
            <a:endParaRPr dirty="0"/>
          </a:p>
        </p:txBody>
      </p:sp>
      <p:sp>
        <p:nvSpPr>
          <p:cNvPr id="134" name="Google Shape;134;p9"/>
          <p:cNvSpPr txBox="1">
            <a:spLocks noGrp="1"/>
          </p:cNvSpPr>
          <p:nvPr>
            <p:ph type="body" idx="1"/>
          </p:nvPr>
        </p:nvSpPr>
        <p:spPr>
          <a:xfrm>
            <a:off x="457200" y="1061884"/>
            <a:ext cx="8229600" cy="5064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b="1" dirty="0"/>
              <a:t>What Existing Solutions Are Missing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AWS, Azure, Cisco too expensive, too cloud dependent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platform combines mesh + encryption + authentication + AI detection together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Small organizations cannot afford enterprise-grade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sovereignty is compromised when everything goes to third-party cloud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604631-F948-7203-D15C-B51BAA3064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10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ENDEAVOUR</a:t>
            </a:r>
          </a:p>
        </p:txBody>
      </p:sp>
      <p:sp>
        <p:nvSpPr>
          <p:cNvPr id="140" name="Google Shape;140;p1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09F5F7-6124-EF48-25D7-2FFFB6D029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Endeavour</a:t>
            </a:r>
            <a:endParaRPr dirty="0"/>
          </a:p>
        </p:txBody>
      </p:sp>
      <p:sp>
        <p:nvSpPr>
          <p:cNvPr id="146" name="Google Shape;146;p11"/>
          <p:cNvSpPr txBox="1">
            <a:spLocks noGrp="1"/>
          </p:cNvSpPr>
          <p:nvPr>
            <p:ph type="body" idx="1"/>
          </p:nvPr>
        </p:nvSpPr>
        <p:spPr>
          <a:xfrm>
            <a:off x="530942" y="1120877"/>
            <a:ext cx="8155858" cy="4670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b="1" dirty="0" err="1"/>
              <a:t>Akrash</a:t>
            </a:r>
            <a:r>
              <a:rPr lang="en-US" b="1" dirty="0"/>
              <a:t> Bashir (47571)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Trained and deployed LightGBM IDS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Worked on CICIDS2017 dataset preprocessing and SMOTE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Built ReactJS dashboard with live video streaming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Designed real time alert and telemetry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Wrote complete project documentation and report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6505CF-414E-B11A-8FB6-5BA1459CAF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Endeavour</a:t>
            </a:r>
            <a:endParaRPr dirty="0"/>
          </a:p>
        </p:txBody>
      </p:sp>
      <p:sp>
        <p:nvSpPr>
          <p:cNvPr id="146" name="Google Shape;146;p11"/>
          <p:cNvSpPr txBox="1">
            <a:spLocks noGrp="1"/>
          </p:cNvSpPr>
          <p:nvPr>
            <p:ph type="body" idx="1"/>
          </p:nvPr>
        </p:nvSpPr>
        <p:spPr>
          <a:xfrm>
            <a:off x="530941" y="1120877"/>
            <a:ext cx="8514735" cy="4670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Muhammad </a:t>
            </a:r>
            <a:r>
              <a:rPr lang="en-US" b="1" dirty="0" err="1"/>
              <a:t>Arhum</a:t>
            </a:r>
            <a:r>
              <a:rPr lang="en-US" b="1" dirty="0"/>
              <a:t> (44889)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Built complete Node.js and Express backend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Configured MongoDB and Redis for data and caching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Done all ESP32 firmware and mesh network programming and Kyber Encryption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up CI/CD pipelines using GitHub and Docker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Handled full system integration end to end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6505CF-414E-B11A-8FB6-5BA1459CAF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635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4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Scope</a:t>
            </a:r>
            <a:br>
              <a:rPr lang="en-US" sz="4400" dirty="0">
                <a:effectLst/>
              </a:rPr>
            </a:br>
            <a:endParaRPr lang="en-US" sz="4400" dirty="0"/>
          </a:p>
        </p:txBody>
      </p:sp>
      <p:sp>
        <p:nvSpPr>
          <p:cNvPr id="140" name="Google Shape;140;p1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09F5F7-6124-EF48-25D7-2FFFB6D029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334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Scope</a:t>
            </a:r>
            <a:br>
              <a:rPr lang="en-US" sz="4400" dirty="0">
                <a:effectLst/>
              </a:rPr>
            </a:br>
            <a:endParaRPr dirty="0"/>
          </a:p>
        </p:txBody>
      </p:sp>
      <p:sp>
        <p:nvSpPr>
          <p:cNvPr id="146" name="Google Shape;146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/>
              <a:t>What is IN Scope: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b="1" dirty="0"/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ESP32 mesh network setup and firmware 	development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AES-256 encryption and post-quantum (Kyber) 	key exchange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Mutual authentication (mTLS) for all devices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VPS backend with MongoDB and Redis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6505CF-414E-B11A-8FB6-5BA1459CAF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27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Scope</a:t>
            </a:r>
            <a:br>
              <a:rPr lang="en-US" sz="4400" dirty="0">
                <a:effectLst/>
              </a:rPr>
            </a:br>
            <a:endParaRPr dirty="0"/>
          </a:p>
        </p:txBody>
      </p:sp>
      <p:sp>
        <p:nvSpPr>
          <p:cNvPr id="146" name="Google Shape;146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/>
              <a:t>What is IN Scope: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b="1" dirty="0"/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ReactJS dashboard for live monitoring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Multi-tenant device management panel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TinyML Intrusion Detection System on edge 	devices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testing node failure and attack simulations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6505CF-414E-B11A-8FB6-5BA1459CAF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52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17C80-0B9E-AA0B-AD82-751A98C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Scope</a:t>
            </a:r>
            <a:br>
              <a:rPr lang="en-US" sz="4400" dirty="0">
                <a:effectLst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72A70-AEF8-433F-D612-9D99F0B5C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What is OUT of Scope: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Large-scale commercial deployment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Mobile app development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Third-party SIEM integration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Official compliance certification (ISO 27001, GDPR)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FD24B-F808-0185-225D-340A794D68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62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SOLUTION</a:t>
            </a:r>
            <a:endParaRPr dirty="0"/>
          </a:p>
        </p:txBody>
      </p:sp>
      <p:sp>
        <p:nvSpPr>
          <p:cNvPr id="152" name="Google Shape;152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807C9E-BC0C-CF97-0117-848FEE5AF4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Solution</a:t>
            </a:r>
            <a:endParaRPr dirty="0"/>
          </a:p>
        </p:txBody>
      </p:sp>
      <p:sp>
        <p:nvSpPr>
          <p:cNvPr id="158" name="Google Shape;158;p13"/>
          <p:cNvSpPr txBox="1">
            <a:spLocks noGrp="1"/>
          </p:cNvSpPr>
          <p:nvPr>
            <p:ph type="body" idx="1"/>
          </p:nvPr>
        </p:nvSpPr>
        <p:spPr>
          <a:xfrm>
            <a:off x="457200" y="1199536"/>
            <a:ext cx="8229600" cy="4926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b="1" dirty="0"/>
              <a:t>Cryptographic Security (AES-256 + Khyber)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 packet encrypted with AES-256-CBC before leaving the device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Fresh random IV generated for every single packet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Kyber post-quantum key exchange safe against future quantum attacks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Hardware accelerator on ESP32 used so no speed loss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EDF66B-B31A-8EFD-F486-6962BD4278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Solution</a:t>
            </a:r>
            <a:endParaRPr dirty="0"/>
          </a:p>
        </p:txBody>
      </p:sp>
      <p:sp>
        <p:nvSpPr>
          <p:cNvPr id="158" name="Google Shape;158;p13"/>
          <p:cNvSpPr txBox="1">
            <a:spLocks noGrp="1"/>
          </p:cNvSpPr>
          <p:nvPr>
            <p:ph type="body" idx="1"/>
          </p:nvPr>
        </p:nvSpPr>
        <p:spPr>
          <a:xfrm>
            <a:off x="457200" y="1199536"/>
            <a:ext cx="8229600" cy="460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Mutual Authentication (mTLS)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Both device and server verify each other's certificate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unauthorized device can join the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ECC certificates used faster and lighter than RSA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Session resumption reduces repeated handshake overhead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EDF66B-B31A-8EFD-F486-6962BD4278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832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Solution</a:t>
            </a:r>
            <a:endParaRPr dirty="0"/>
          </a:p>
        </p:txBody>
      </p:sp>
      <p:sp>
        <p:nvSpPr>
          <p:cNvPr id="158" name="Google Shape;158;p13"/>
          <p:cNvSpPr txBox="1">
            <a:spLocks noGrp="1"/>
          </p:cNvSpPr>
          <p:nvPr>
            <p:ph type="body" idx="1"/>
          </p:nvPr>
        </p:nvSpPr>
        <p:spPr>
          <a:xfrm>
            <a:off x="457200" y="1199536"/>
            <a:ext cx="8229600" cy="460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b="1" dirty="0"/>
              <a:t>IDS Layer: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LightGBM model trained on CICIDS2017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99.85% accuracy in detecting attacks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Auto-blocks suspicious IPs via iptables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Runs in real-time on the server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EDF66B-B31A-8EFD-F486-6962BD4278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200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Requirements Summary</a:t>
            </a:r>
            <a:endParaRPr/>
          </a:p>
        </p:txBody>
      </p:sp>
      <p:sp>
        <p:nvSpPr>
          <p:cNvPr id="158" name="Google Shape;158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b="1" dirty="0"/>
              <a:t>Functional Requirements Admin: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Register and manage tenant organizations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View all devices across all tenants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Remotely revoke compromised device credentials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Configure cryptographic policies and key rotation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Monitor system health and audit logs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D4BADF-5684-4218-BFFE-3766E329F9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299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Requirements Summary</a:t>
            </a:r>
            <a:endParaRPr/>
          </a:p>
        </p:txBody>
      </p:sp>
      <p:sp>
        <p:nvSpPr>
          <p:cNvPr id="158" name="Google Shape;158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b="1" dirty="0"/>
              <a:t>Functional Requirements Tenant (User):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Register and manage their own ESP32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Monitor real-time telemetry and mesh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Receive instant alerts from IDS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 historical logs and generate reports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D4BADF-5684-4218-BFFE-3766E329F9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698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Requirements Summary</a:t>
            </a:r>
            <a:endParaRPr/>
          </a:p>
        </p:txBody>
      </p:sp>
      <p:sp>
        <p:nvSpPr>
          <p:cNvPr id="158" name="Google Shape;158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 algn="just">
              <a:buNone/>
            </a:pPr>
            <a:r>
              <a:rPr lang="en-US" b="1" dirty="0"/>
              <a:t>Non-Functional Requirements:</a:t>
            </a: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Security</a:t>
            </a:r>
            <a:r>
              <a:rPr lang="en-US" dirty="0"/>
              <a:t> AES-256, mTLS, post-quantum on all communications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Performance</a:t>
            </a:r>
            <a:r>
              <a:rPr lang="en-US" dirty="0"/>
              <a:t> Dashboard latency under 2 seconds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Reliability</a:t>
            </a:r>
            <a:r>
              <a:rPr lang="en-US" dirty="0"/>
              <a:t> Mesh auto-recovers without manual help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D4BADF-5684-4218-BFFE-3766E329F9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798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Requirements Summary</a:t>
            </a:r>
            <a:endParaRPr/>
          </a:p>
        </p:txBody>
      </p:sp>
      <p:sp>
        <p:nvSpPr>
          <p:cNvPr id="158" name="Google Shape;158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 algn="just">
              <a:buNone/>
            </a:pPr>
            <a:r>
              <a:rPr lang="en-US" b="1" dirty="0"/>
              <a:t>Non-Functional Requirements:</a:t>
            </a: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Scalability</a:t>
            </a:r>
            <a:r>
              <a:rPr lang="en-US" dirty="0"/>
              <a:t> New tenants and devices add without any changes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Usability</a:t>
            </a:r>
            <a:r>
              <a:rPr lang="en-US" dirty="0"/>
              <a:t> Simple enough for non-technical admins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Data Sovereignty</a:t>
            </a:r>
            <a:r>
              <a:rPr lang="en-US" dirty="0"/>
              <a:t> All data stays on private VPS, no third-party cloud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D4BADF-5684-4218-BFFE-3766E329F9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039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Summary</a:t>
            </a:r>
            <a:endParaRPr/>
          </a:p>
        </p:txBody>
      </p:sp>
      <p:sp>
        <p:nvSpPr>
          <p:cNvPr id="164" name="Google Shape;164;p14"/>
          <p:cNvSpPr txBox="1">
            <a:spLocks noGrp="1"/>
          </p:cNvSpPr>
          <p:nvPr>
            <p:ph type="body" idx="1"/>
          </p:nvPr>
        </p:nvSpPr>
        <p:spPr>
          <a:xfrm>
            <a:off x="457200" y="1140542"/>
            <a:ext cx="8229600" cy="49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Architecture: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  <a:tabLst>
                <a:tab pos="1143000" algn="l"/>
              </a:tabLst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F67202-6D60-A36F-AD35-5E28FAAA47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943D155-58CF-F779-CA7E-93FF62F92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40" y="2104103"/>
            <a:ext cx="8853412" cy="3687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Methodology</a:t>
            </a:r>
            <a:endParaRPr dirty="0"/>
          </a:p>
        </p:txBody>
      </p:sp>
      <p:sp>
        <p:nvSpPr>
          <p:cNvPr id="164" name="Google Shape;164;p14"/>
          <p:cNvSpPr txBox="1">
            <a:spLocks noGrp="1"/>
          </p:cNvSpPr>
          <p:nvPr>
            <p:ph type="body" idx="1"/>
          </p:nvPr>
        </p:nvSpPr>
        <p:spPr>
          <a:xfrm>
            <a:off x="457199" y="1091381"/>
            <a:ext cx="8332839" cy="4640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Phase 1 Mesh Network Setup: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ESP32 nodes configured using ESP-IDF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ESP-WIFI-MESH protocol used for self-organizing topology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RSSI-based parent selection node pic strongest signal parent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parent signal drops below -75 dBm, node switches automatically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EE2CD3-04A2-932B-16EF-4021ED4A23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365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839CE-71C2-EF77-37CF-9215F83EF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3C44C-F83B-D6F9-D3D8-1215FE311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Phase 2 Cryptographic Implementation: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AES-256-CBC implemented using ESP32 hardware accelerator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PKCS#7 padding applied for block alignment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Unique IV generated per packet using hardware RNG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Kyber512 library integrated for post-quantum key exchange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18816-AD24-E620-A315-39C2426BE3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824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839CE-71C2-EF77-37CF-9215F83EF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3C44C-F83B-D6F9-D3D8-1215FE311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Phase 3 Mutual Authentication: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mTLS handshake implemented using Mbed TLS library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Private CA created on cloud VPS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device flashed with unique certificate and private key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Certificate Revocation List maintained on backend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18816-AD24-E620-A315-39C2426BE3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751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839CE-71C2-EF77-37CF-9215F83EF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3C44C-F83B-D6F9-D3D8-1215FE311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Phase 4 Backend and Dashboard: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Node.js + Express REST API and WebSocket server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MongoDB for data storage, Redis for real-time caching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ReactJS dashboard with live video via Secure WebSockets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JWT and RBAC for multi-tenant access control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18816-AD24-E620-A315-39C2426BE3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420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839CE-71C2-EF77-37CF-9215F83EF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3C44C-F83B-D6F9-D3D8-1215FE311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IDS Training and Deployment: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CICIDS2017 dataset used 2.27 million network flow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SMOTE applied to fix class imbalance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LightGBM trained 500 estimators, learning rate 0.05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deployed with three-tier response BLOCK, FLAG, ALLOW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18816-AD24-E620-A315-39C2426BE3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676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Summary</a:t>
            </a: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75547D-54DB-0981-9494-E92EBBC827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B0D2D28-00FD-348C-F626-AAB6E84FDB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1" y="1462525"/>
            <a:ext cx="82296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a working mesh network using ESP32 modules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AES-256 encryption applied on every data packet before sending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Mutual TLS (mTLS) used so only trusted devices can join the network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 dashboard built for live video and telemetry monitoring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Summary</a:t>
            </a: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75547D-54DB-0981-9494-E92EBBC827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40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B0D2D28-00FD-348C-F626-AAB6E84FDB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53961" y="913375"/>
            <a:ext cx="833284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 made with MERN stack and Redis for fast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TinyML IDS model trained and tested for real-time attack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Deployed on a private cloud VPS no third-party cloud used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tested for node failure, rogue device, and DoS attacks all passed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24-hour stress test done network stayed stable throughout </a:t>
            </a:r>
          </a:p>
        </p:txBody>
      </p:sp>
    </p:spTree>
    <p:extLst>
      <p:ext uri="{BB962C8B-B14F-4D97-AF65-F5344CB8AC3E}">
        <p14:creationId xmlns:p14="http://schemas.microsoft.com/office/powerpoint/2010/main" val="10382028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0C53-AA21-809A-BBD4-F324A6B8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and Results Summary</a:t>
            </a:r>
            <a:endParaRPr lang="en-P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F3E3F0-B91C-6F5C-61B5-920A705D64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41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3301C99-A86A-2E6A-F59C-C26D199102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00280"/>
            <a:ext cx="807720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IDS Results: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Accuracy: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99.85%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F1 Score: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0.9986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ROC-AUC: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1.0000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 test (50 flows):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48/50 correct = 96%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 action triggers at confidence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≥ 0.70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auto blocks IP in firewall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FLAG action for lower confidence sent for human review ALLOW for clean/benign traffic </a:t>
            </a:r>
          </a:p>
        </p:txBody>
      </p:sp>
    </p:spTree>
    <p:extLst>
      <p:ext uri="{BB962C8B-B14F-4D97-AF65-F5344CB8AC3E}">
        <p14:creationId xmlns:p14="http://schemas.microsoft.com/office/powerpoint/2010/main" val="28533982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0C53-AA21-809A-BBD4-F324A6B8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and Results Summary</a:t>
            </a:r>
            <a:endParaRPr lang="en-P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F3E3F0-B91C-6F5C-61B5-920A705D64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42</a:t>
            </a:fld>
            <a:endParaRPr lang="en-US"/>
          </a:p>
        </p:txBody>
      </p:sp>
      <p:pic>
        <p:nvPicPr>
          <p:cNvPr id="4" name="Picture 3" descr=" close-up of a graph">
            <a:extLst>
              <a:ext uri="{FF2B5EF4-FFF2-40B4-BE49-F238E27FC236}">
                <a16:creationId xmlns:a16="http://schemas.microsoft.com/office/drawing/2014/main" id="{00FAFCFC-18DE-99EA-5D7D-F44C09D6F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8194"/>
            <a:ext cx="9144000" cy="365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C9268E-E8D5-3884-AEAB-59C24D2536C7}"/>
              </a:ext>
            </a:extLst>
          </p:cNvPr>
          <p:cNvSpPr txBox="1"/>
          <p:nvPr/>
        </p:nvSpPr>
        <p:spPr>
          <a:xfrm>
            <a:off x="457200" y="1297858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Confusion Matrix: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1194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0C53-AA21-809A-BBD4-F324A6B8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and Results Summary</a:t>
            </a:r>
            <a:endParaRPr lang="en-P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F3E3F0-B91C-6F5C-61B5-920A705D64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9268E-E8D5-3884-AEAB-59C24D2536C7}"/>
              </a:ext>
            </a:extLst>
          </p:cNvPr>
          <p:cNvSpPr txBox="1"/>
          <p:nvPr/>
        </p:nvSpPr>
        <p:spPr>
          <a:xfrm>
            <a:off x="457200" y="1297858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F1 Score: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6A376F0A-34D4-29FA-DA39-22D9ACEE8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7565"/>
            <a:ext cx="9144000" cy="391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5066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Testing Summary</a:t>
            </a:r>
            <a:endParaRPr dirty="0"/>
          </a:p>
        </p:txBody>
      </p:sp>
      <p:sp>
        <p:nvSpPr>
          <p:cNvPr id="176" name="Google Shape;176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5D328A-84CD-EA8C-C932-8D153EB229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 AND OUTLOOK</a:t>
            </a:r>
            <a:endParaRPr dirty="0"/>
          </a:p>
        </p:txBody>
      </p:sp>
      <p:sp>
        <p:nvSpPr>
          <p:cNvPr id="182" name="Google Shape;182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6B69E2-EE0E-DFE1-ABAA-5A07F8210F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 &amp; Outlook</a:t>
            </a: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F92650-5533-AF1C-8D9E-8C12E2F09C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46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DC09A1-AAE7-4F11-01E0-2A40C9777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1" y="778683"/>
            <a:ext cx="783139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built a secure IoT platform using low-cost ESP32 hardware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Proved that enterprise-level security is possible without expensive equipment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AES-256 encryption, mTLS authentication, and mesh networking all working together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IDS model achieved 99.85% accuracy:real-time attack detection confirmed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 &amp; Outlook</a:t>
            </a: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F92650-5533-AF1C-8D9E-8C12E2F09C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47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1156F95-C272-4A9D-EF52-4BD9EB9BE0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04968"/>
            <a:ext cx="8382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1" dirty="0"/>
              <a:t>Future Work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computer vision to cameras so they can detect suspicious activity like loitering or unauthorized access 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 camera alerts with network IDS alerts for a unified cyber and physical security view 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LoRaWAN so critical alerts still reach admin even if Wi-Fi is jammed </a:t>
            </a:r>
          </a:p>
        </p:txBody>
      </p:sp>
    </p:spTree>
    <p:extLst>
      <p:ext uri="{BB962C8B-B14F-4D97-AF65-F5344CB8AC3E}">
        <p14:creationId xmlns:p14="http://schemas.microsoft.com/office/powerpoint/2010/main" val="1391629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 &amp; Outlook</a:t>
            </a: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F92650-5533-AF1C-8D9E-8C12E2F09C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48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DC09A1-AAE7-4F11-01E0-2A40C9777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1" y="1271125"/>
            <a:ext cx="783139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passed all test cases: node failure, rogue device, DoS, replay attack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24-hour stress test completed: network stayed stable throughout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sovereignty maintained: no third-party cloud used, private VPS only </a:t>
            </a:r>
          </a:p>
        </p:txBody>
      </p:sp>
    </p:spTree>
    <p:extLst>
      <p:ext uri="{BB962C8B-B14F-4D97-AF65-F5344CB8AC3E}">
        <p14:creationId xmlns:p14="http://schemas.microsoft.com/office/powerpoint/2010/main" val="23102990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 &amp; Outlook</a:t>
            </a: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F92650-5533-AF1C-8D9E-8C12E2F09C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49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1156F95-C272-4A9D-EF52-4BD9EB9BE0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97410"/>
            <a:ext cx="83820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indent="-5143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Secure OTA updates so firmware and keys can be updated remotely without touching hardware 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Migrate video from MJPEG to H.264 for better quality and less bandwidth usage 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device provisioning simpler for large scale deployment </a:t>
            </a:r>
          </a:p>
        </p:txBody>
      </p:sp>
    </p:spTree>
    <p:extLst>
      <p:ext uri="{BB962C8B-B14F-4D97-AF65-F5344CB8AC3E}">
        <p14:creationId xmlns:p14="http://schemas.microsoft.com/office/powerpoint/2010/main" val="22270331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846C-05F6-31B8-5BAF-50A58E2FC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7D1DE-F6B5-3E81-BF8A-2F86E22E6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Zscaler </a:t>
            </a:r>
            <a:r>
              <a:rPr lang="en-US" sz="1800" u="sng" dirty="0" err="1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ThreatLabz</a:t>
            </a:r>
            <a:r>
              <a:rPr lang="en-US" sz="18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"2024 Enterprise IoT and OT Threat Report: A Deep Dive into the Attack Landscape," </a:t>
            </a:r>
            <a:r>
              <a:rPr lang="en-US" sz="1800" i="1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Zscaler Inc.</a:t>
            </a:r>
            <a:r>
              <a:rPr lang="en-US" sz="18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San Jose, CA, 2024. [Online]. Available: </a:t>
            </a:r>
            <a:r>
              <a:rPr lang="en-US" sz="18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https://www.zscaler.com/resources/industry-reports/2024-enterprise-iot-ot-threat-report.pdf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  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Starfleet Research, "The 2024 Benchmark Report on IoT Security," </a:t>
            </a:r>
            <a:r>
              <a:rPr lang="en-US" sz="1800" i="1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Starfleet Media</a:t>
            </a:r>
            <a:r>
              <a:rPr lang="en-US" sz="18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2024.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  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sng" dirty="0" err="1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Espressif</a:t>
            </a:r>
            <a:r>
              <a:rPr lang="en-US" sz="18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Systems, "ESP-WIFI-MESH Programming Guide," </a:t>
            </a:r>
            <a:r>
              <a:rPr lang="en-US" sz="1800" i="1" u="sng" dirty="0" err="1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Espressif</a:t>
            </a:r>
            <a:r>
              <a:rPr lang="en-US" sz="1800" i="1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Documentation</a:t>
            </a:r>
            <a:r>
              <a:rPr lang="en-US" sz="18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v5.1, 2024. [Online]. Available: </a:t>
            </a:r>
            <a:r>
              <a:rPr lang="en-US" sz="18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https://docs.espressif.com/projects/esp-idf/en/latest/esp32/api-guides/esp-wifi-mesh.html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  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National Institute of Standards and Technology (NIST), "Advanced Encryption Standard (AES)," U.S. Department of Commerce, Washington, D.C., FIPS PUB 197, Nov. 2001.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  </a:t>
            </a:r>
          </a:p>
          <a:p>
            <a:pPr>
              <a:buFont typeface="+mj-lt"/>
              <a:buAutoNum type="arabicPeriod"/>
            </a:pPr>
            <a:r>
              <a:rPr lang="en-US" sz="18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Microsoft, "The STRIDE Threat Model," </a:t>
            </a:r>
            <a:r>
              <a:rPr lang="en-US" sz="1800" i="1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Microsoft Security Development Lifecycle</a:t>
            </a:r>
            <a:r>
              <a:rPr lang="en-US" sz="18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2023. [Online]. Available: </a:t>
            </a:r>
            <a:r>
              <a:rPr lang="en-US" sz="18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https://learn.microsoft.com/en-us/azure/security/develop/threat-modeling-tool-threats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 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96E27-3368-698F-F954-C35AC46DE9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66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2192</TotalTime>
  <Words>1807</Words>
  <Application>Microsoft Office PowerPoint</Application>
  <PresentationFormat>On-screen Show (4:3)</PresentationFormat>
  <Paragraphs>331</Paragraphs>
  <Slides>50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Times New Roman</vt:lpstr>
      <vt:lpstr>Wingdings</vt:lpstr>
      <vt:lpstr>Office Theme</vt:lpstr>
      <vt:lpstr>Final Year Project</vt:lpstr>
      <vt:lpstr>Project Team</vt:lpstr>
      <vt:lpstr>Table of Content</vt:lpstr>
      <vt:lpstr>BACKGROUND AND INTRODUCTION</vt:lpstr>
      <vt:lpstr>Background and Introduction</vt:lpstr>
      <vt:lpstr>Background and Introduction</vt:lpstr>
      <vt:lpstr>Background and Introduction</vt:lpstr>
      <vt:lpstr>Background and Introduction</vt:lpstr>
      <vt:lpstr>Background and Introduction</vt:lpstr>
      <vt:lpstr>Literature Review</vt:lpstr>
      <vt:lpstr>Literature Review</vt:lpstr>
      <vt:lpstr>Literature Review</vt:lpstr>
      <vt:lpstr>Literature Review</vt:lpstr>
      <vt:lpstr>Literature Review</vt:lpstr>
      <vt:lpstr>PROBLEM STATEMENT</vt:lpstr>
      <vt:lpstr>Problem Statement</vt:lpstr>
      <vt:lpstr>Problem Statement</vt:lpstr>
      <vt:lpstr>ENDEAVOUR</vt:lpstr>
      <vt:lpstr>Endeavour</vt:lpstr>
      <vt:lpstr>Endeavour</vt:lpstr>
      <vt:lpstr>Project Scope </vt:lpstr>
      <vt:lpstr>Project Scope </vt:lpstr>
      <vt:lpstr>Project Scope </vt:lpstr>
      <vt:lpstr>Project Scope </vt:lpstr>
      <vt:lpstr>PROPOSED SOLUTION</vt:lpstr>
      <vt:lpstr>Proposed Solution</vt:lpstr>
      <vt:lpstr>Proposed Solution</vt:lpstr>
      <vt:lpstr>Proposed Solution</vt:lpstr>
      <vt:lpstr>Requirements Summary</vt:lpstr>
      <vt:lpstr>Requirements Summary</vt:lpstr>
      <vt:lpstr>Requirements Summary</vt:lpstr>
      <vt:lpstr>Requirements Summary</vt:lpstr>
      <vt:lpstr>Design Summary</vt:lpstr>
      <vt:lpstr>Methodology</vt:lpstr>
      <vt:lpstr>Methodology</vt:lpstr>
      <vt:lpstr>Methodology</vt:lpstr>
      <vt:lpstr>Methodology</vt:lpstr>
      <vt:lpstr>Methodology</vt:lpstr>
      <vt:lpstr>Implementation Summary</vt:lpstr>
      <vt:lpstr>Implementation Summary</vt:lpstr>
      <vt:lpstr>Experiments and Results Summary</vt:lpstr>
      <vt:lpstr>Experiments and Results Summary</vt:lpstr>
      <vt:lpstr>Experiments and Results Summary</vt:lpstr>
      <vt:lpstr>Testing Summary</vt:lpstr>
      <vt:lpstr>CONCLUSION AND OUTLOOK</vt:lpstr>
      <vt:lpstr>Conclusion &amp; Outlook</vt:lpstr>
      <vt:lpstr>Conclusion &amp; Outlook</vt:lpstr>
      <vt:lpstr>Conclusion &amp; Outlook</vt:lpstr>
      <vt:lpstr>Conclusion &amp; Outlook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</dc:title>
  <dc:creator>Khan</dc:creator>
  <cp:lastModifiedBy>AKRASH BASHIR</cp:lastModifiedBy>
  <cp:revision>10</cp:revision>
  <dcterms:created xsi:type="dcterms:W3CDTF">2013-01-22T07:04:44Z</dcterms:created>
  <dcterms:modified xsi:type="dcterms:W3CDTF">2026-04-29T05:13:30Z</dcterms:modified>
</cp:coreProperties>
</file>